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07423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Fill every field exactly as entered in the online application form so reviewers can match the deck to the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Reviewers look for a clearly defined, real and significant problem backed by evidence. One strong statistic is better than many weak ones. Cite the source for every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clearly how the solution addresses the problem on Slide 2. Compare against what exists today — reviewers score originality and relevance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realistic. A clear, costed plan with an identified adopting department scores better than an ambitious but vague one. Mention any validation already done (tests, user feedback, certifications).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impact wherever possible and state your assumptions. Where relevant, link the solution to an existing Government scheme, mission or the Sustainable Development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only active team members. Be specific about the support requested — it helps the organisers match you with the right mentor, department or incubator.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•  REFERENCE PITCH DECK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315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Margadarshak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wheelchair that takes airport passengers to their gate by itself — built for Indian airports, at a fraction of the imported cost.</a:t>
            </a:r>
            <a:endParaRPr lang="en-US" sz="1200" dirty="0"/>
          </a:p>
        </p:txBody>
      </p:sp>
      <p:pic>
        <p:nvPicPr>
          <p:cNvPr id="5" name="Picture 4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03120"/>
            <a:ext cx="3840480" cy="2150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370832"/>
            <a:ext cx="3840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C3CAE0"/>
                </a:solidFill>
              </a:rPr>
              <a:t>the guide line it follows, laid into the terminal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F28C28"/>
                </a:solidFill>
              </a:rPr>
              <a:t>Proof of concept</a:t>
            </a:r>
          </a:p>
          <a:p>
            <a:r>
              <a:rPr sz="950" b="0">
                <a:solidFill>
                  <a:srgbClr val="C3CAE0"/>
                </a:solidFill>
              </a:rPr>
              <a:t>Dispatcher built and tested — 292 automated tests. Demonstrator fleet costed at ₹4,759. Nothing has yet carried a passenger.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Problem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real challenge in society, government service or industry are you solving?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2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is the problem?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Indian airports must provide wheelchair assistance free of charge, and do not have the attendants to deliver it. The root cause is arithmetic, not goodwill: demand is unpredictable and staffing for the peak is unaffordable.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7432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 txBox="1"/>
          <p:nvPr/>
        </p:nvSpPr>
        <p:spPr>
          <a:xfrm>
            <a:off x="3520440" y="129844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affected, and where?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1572768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Elderly passengers, persons with disabilities, and women travelling alone — at Goa's two airports, Dabolim and Manohar International, Mopa. Worst affected are those who do not read English, since every fallback is an English sign.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59436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DGCA CAR Section 3, Series M, Part I requires airports and airlines to provide assistance free of charge. The figure opposite is our own estimate — roughly 1 in 100 passengers against AAI's published traffic for both airports — and we flag it as an estimate until a pilot measures it.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2971800"/>
            <a:ext cx="27432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 txBox="1"/>
          <p:nvPr/>
        </p:nvSpPr>
        <p:spPr>
          <a:xfrm>
            <a:off x="3520440" y="3081528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gaps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20440" y="3355848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today is a person pushing a chair. Once they set off they cannot be told the gate moved, and a passenger delivered to a gate is stranded until somebody remembers them. Imported autonomous chairs exist, but not at a price Indian airports can meet.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309360" y="1188720"/>
            <a:ext cx="2377440" cy="3429000"/>
          </a:xfrm>
          <a:prstGeom prst="roundRect">
            <a:avLst>
              <a:gd name="adj" fmla="val 3846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6400800" y="1508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~1,00,000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22860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assistance journeys a year across Goa's two airports (our estimate)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383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 missed flight — and the indignity of asking a stranger for help, then waiting without knowing if anyone is coming.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&amp; Innovation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have you built or designed, how does it work, and what is new about it?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3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Our solution in brief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8132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passenger scans their boarding pass and sits down. The barcode names the flight; a laptop on the premises looks up the gate live and sends a chair. The chair follows a guide line laid into the floor, obeys a speed limit, and stops for obstacles.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8595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8595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1</a:t>
            </a:r>
            <a:endParaRPr lang="en-US" sz="1120" dirty="0"/>
          </a:p>
        </p:txBody>
      </p:sp>
      <p:sp>
        <p:nvSpPr>
          <p:cNvPr id="13" name="Text 11"/>
          <p:cNvSpPr txBox="1"/>
          <p:nvPr/>
        </p:nvSpPr>
        <p:spPr>
          <a:xfrm>
            <a:off x="5303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Passenger scans their boarding pass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6276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8288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2311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22311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2</a:t>
            </a:r>
            <a:endParaRPr lang="en-US" sz="1120" dirty="0"/>
          </a:p>
        </p:txBody>
      </p:sp>
      <p:sp>
        <p:nvSpPr>
          <p:cNvPr id="19" name="Text 17"/>
          <p:cNvSpPr txBox="1"/>
          <p:nvPr/>
        </p:nvSpPr>
        <p:spPr>
          <a:xfrm>
            <a:off x="19019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Process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Dispatcher finds the live gate, sends the nearest chair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2999232" y="3291840"/>
            <a:ext cx="201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3200400" y="2724912"/>
            <a:ext cx="1170432" cy="1783080"/>
          </a:xfrm>
          <a:prstGeom prst="roundRect">
            <a:avLst>
              <a:gd name="adj" fmla="val 625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02736" y="2834640"/>
            <a:ext cx="365760" cy="36576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 txBox="1"/>
          <p:nvPr/>
        </p:nvSpPr>
        <p:spPr>
          <a:xfrm>
            <a:off x="3602736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</a:t>
            </a:r>
            <a:endParaRPr lang="en-US" sz="1120" dirty="0"/>
          </a:p>
        </p:txBody>
      </p:sp>
      <p:sp>
        <p:nvSpPr>
          <p:cNvPr id="25" name="Text 23"/>
          <p:cNvSpPr txBox="1"/>
          <p:nvPr/>
        </p:nvSpPr>
        <p:spPr>
          <a:xfrm>
            <a:off x="3273552" y="3273552"/>
            <a:ext cx="1024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Output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291840" y="3566160"/>
            <a:ext cx="987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Chair follows the floor line, re-routing if the gate moves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1188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makes it new?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36192"/>
          <a:ext cx="3931920" cy="19202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Existing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Our approach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Cost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Attendant per trip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₹57,000 per chair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Speed / time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Unpredictable wait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Pre-positioned; wait reported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Reach / access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English signage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4 languages, Konkani first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Ease of use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Ask, then depend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i="1" dirty="0">
                          <a:solidFill>
                            <a:srgbClr val="6B7280"/>
                          </a:solidFill>
                          <a:latin typeface="Nirmala UI" pitchFamily="34" charset="0"/>
                          <a:ea typeface="Nirmala UI" pitchFamily="34" charset="-122"/>
                          <a:cs typeface="Nirmala UI" pitchFamily="34" charset="-120"/>
                        </a:rPr>
                        <a:t>Scan, then sit</a:t>
                      </a:r>
                      <a:endParaRPr lang="en-US" sz="1000" dirty="0">
                        <a:latin typeface="Nirmala UI" charset="0"/>
                        <a:ea typeface="Nirmala UI" charset="0"/>
                        <a:cs typeface="Nirmala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475488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Key USP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754880" y="38862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When the airline moves a gate, the chair knows and re-routes mid-journey. A person pushing a wheelchair cannot — they set off committed, and nobody tells them. No patent filed.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4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Feasibility &amp; Implementation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How ready is the solution, and what will it take to implement it on the ground?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4 of 6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1704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Current stage (mark ✔ where you are today)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1783080"/>
            <a:ext cx="7315200" cy="0"/>
          </a:xfrm>
          <a:prstGeom prst="line">
            <a:avLst/>
          </a:prstGeom>
          <a:noFill/>
          <a:ln w="25400">
            <a:solidFill>
              <a:srgbClr val="C3CAE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589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 txBox="1"/>
          <p:nvPr/>
        </p:nvSpPr>
        <p:spPr>
          <a:xfrm>
            <a:off x="1828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Idea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87752" y="1627632"/>
            <a:ext cx="310896" cy="310896"/>
          </a:xfrm>
          <a:prstGeom prst="ellipse">
            <a:avLst/>
          </a:prstGeom>
          <a:solidFill>
            <a:srgbClr val="F28C28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20116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Proof of Concept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165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 txBox="1"/>
          <p:nvPr/>
        </p:nvSpPr>
        <p:spPr>
          <a:xfrm>
            <a:off x="38404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Working Prototype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453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56692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Field Pilot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74152" y="1627632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 txBox="1"/>
          <p:nvPr/>
        </p:nvSpPr>
        <p:spPr>
          <a:xfrm>
            <a:off x="7498080" y="20116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Ready to Deploy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ESP32 controller, IR line sensors, ultrasonic obstacle stop, 2S lithium pack, 4 mm MDF chassis. Dispatcher in Python on one laptop — standard library only, no cloud and no network calls.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269748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Estimated cost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9748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₹4,759 for two demonstrator chairs (₹2,801 for one). The production retrofit module is designed at about ₹57,000 per chair. A terminal pilot needs chairs, floor marking and a survey.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480060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Timeline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80060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 months: two chairs running a taped guide path at the December exhibition. 6 months: a supervised trial in one terminal zone. 12 months: a measured pilot with an airport operator.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66560" y="2514600"/>
            <a:ext cx="1920240" cy="210312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 txBox="1"/>
          <p:nvPr/>
        </p:nvSpPr>
        <p:spPr>
          <a:xfrm>
            <a:off x="6903720" y="262432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Partners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903720" y="2898648"/>
            <a:ext cx="1645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Airports Authority of India (Dabolim) and Manohar International Airport, Mopa. Not yet approached: the regulatory position needs a competent authority, which is part of what we are asking for.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5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Impact &amp; Scalability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What change will your solution create, and how can it grow beyond the first location?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5 of 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48640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~2,000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Beneficiaries reached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[assistance journeys in a first-year pilot at one terminal]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64408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 txBox="1"/>
          <p:nvPr/>
        </p:nvSpPr>
        <p:spPr>
          <a:xfrm>
            <a:off x="3355848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3×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355848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Saving in cost / time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[passengers per attendant using caravan mode — simulated, not yet measured]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71616" y="1188720"/>
            <a:ext cx="2606040" cy="1463040"/>
          </a:xfrm>
          <a:prstGeom prst="roundRect">
            <a:avLst>
              <a:gd name="adj" fmla="val 5000"/>
            </a:avLst>
          </a:prstGeom>
          <a:solidFill>
            <a:srgbClr val="FDEBD7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 txBox="1"/>
          <p:nvPr/>
        </p:nvSpPr>
        <p:spPr>
          <a:xfrm>
            <a:off x="6163056" y="12801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9385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Jobs or livelihoods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63056" y="221284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[attendant jobs replaced — these are posts airports cannot fill today]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 txBox="1"/>
          <p:nvPr/>
        </p:nvSpPr>
        <p:spPr>
          <a:xfrm>
            <a:off x="594360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Social impact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Independence for passengers who today must ask a stranger for help and then depend on them. Konkani and Marathi before English, so the service reaches the people the current one fails. Nobody is left waiting at a gate to be remembered.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64408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 txBox="1"/>
          <p:nvPr/>
        </p:nvSpPr>
        <p:spPr>
          <a:xfrm>
            <a:off x="3401568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401568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Bought by the airport operator against an obligation it already carries, then maintained. No cloud fees, no vendor account and no per-journey licence — it runs on one laptop on the premises, and the airport owns and edits its own map.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71616" y="28346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9525">
            <a:solidFill>
              <a:srgbClr val="D9DEE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 txBox="1"/>
          <p:nvPr/>
        </p:nvSpPr>
        <p:spPr>
          <a:xfrm>
            <a:off x="6208776" y="294436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Scale-up plan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208776" y="3218688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The guide path is tape and floor tags; the map is JSON the airport edits itself. Replicating means surveying a terminal, not rebuilding software. The same system fits railway stations — a far larger Indian problem.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02920" cy="50292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 txBox="1"/>
          <p:nvPr/>
        </p:nvSpPr>
        <p:spPr>
          <a:xfrm>
            <a:off x="457200" y="347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6</a:t>
            </a:r>
            <a:endParaRPr lang="en-US" sz="1540" dirty="0"/>
          </a:p>
        </p:txBody>
      </p:sp>
      <p:sp>
        <p:nvSpPr>
          <p:cNvPr id="4" name="Text 2"/>
          <p:cNvSpPr txBox="1"/>
          <p:nvPr/>
        </p:nvSpPr>
        <p:spPr>
          <a:xfrm>
            <a:off x="1097280" y="30175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Team/Individual &amp; Support Required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713232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Who is behind the idea, and what help do you need from the Challenge?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4343400" cy="1143000"/>
          </a:xfrm>
          <a:prstGeom prst="roundRect">
            <a:avLst>
              <a:gd name="adj" fmla="val 6400"/>
            </a:avLst>
          </a:prstGeom>
          <a:solidFill>
            <a:srgbClr val="253870"/>
          </a:solidFill>
          <a:ln w="12700">
            <a:solidFill>
              <a:srgbClr val="25387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3A4C85"/>
          </a:solidFill>
          <a:ln w="12700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 txBox="1"/>
          <p:nvPr/>
        </p:nvSpPr>
        <p:spPr>
          <a:xfrm>
            <a:off x="59436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Photo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35331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Aatriv Thosar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Team Lead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182880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[Your qualification / course]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120640" y="1188720"/>
            <a:ext cx="356616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 txBox="1"/>
          <p:nvPr/>
        </p:nvSpPr>
        <p:spPr>
          <a:xfrm>
            <a:off x="530352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A5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Support we are seeking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349240" y="1764792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4" name="Text 32"/>
          <p:cNvSpPr txBox="1"/>
          <p:nvPr/>
        </p:nvSpPr>
        <p:spPr>
          <a:xfrm>
            <a:off x="5669280" y="17373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Mentorship &amp; technical guidance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349240" y="2148840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 txBox="1"/>
          <p:nvPr/>
        </p:nvSpPr>
        <p:spPr>
          <a:xfrm>
            <a:off x="5669280" y="212140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Pilot with a government department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349240" y="2532888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 txBox="1"/>
          <p:nvPr/>
        </p:nvSpPr>
        <p:spPr>
          <a:xfrm>
            <a:off x="5669280" y="250545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Funding / grant support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349240" y="2916936"/>
            <a:ext cx="182880" cy="182880"/>
          </a:xfrm>
          <a:prstGeom prst="rect">
            <a:avLst/>
          </a:prstGeom>
          <a:solidFill>
            <a:srgbClr val="FFFFFF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 txBox="1"/>
          <p:nvPr/>
        </p:nvSpPr>
        <p:spPr>
          <a:xfrm>
            <a:off x="5669280" y="288950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Incubation &amp; workspace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349240" y="3300984"/>
            <a:ext cx="182880" cy="182880"/>
          </a:xfrm>
          <a:prstGeom prst="rect">
            <a:avLst/>
          </a:prstGeom>
          <a:solidFill>
            <a:srgbClr val="F28C28"/>
          </a:solidFill>
          <a:ln w="1587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Text 40"/>
          <p:cNvSpPr txBox="1"/>
          <p:nvPr/>
        </p:nvSpPr>
        <p:spPr>
          <a:xfrm>
            <a:off x="5669280" y="32735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F2937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Testing, certification or IP support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30352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Certification and a clear regulatory position are what stand between a working dispatcher and a chair that may legally carry a passenger.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4343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28C28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Thank you  |  aatriv38@gmail.com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0" y="48463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dirty="0">
                <a:solidFill>
                  <a:srgbClr val="C9D2EC"/>
                </a:solidFill>
                <a:latin typeface="Nirmala UI" pitchFamily="34" charset="0"/>
                <a:ea typeface="Nirmala UI" pitchFamily="34" charset="-122"/>
                <a:cs typeface="Nirmala UI" pitchFamily="34" charset="-120"/>
              </a:rPr>
              <a:t>Seva Innovation Challenge 2026  |  Slide 6 of 6</a:t>
            </a:r>
            <a:endParaRPr lang="en-US" sz="800" dirty="0"/>
          </a:p>
        </p:txBody>
      </p:sp>
      <p:pic>
        <p:nvPicPr>
          <p:cNvPr id="46" name="Picture 45" descr="ch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606040"/>
            <a:ext cx="2651760" cy="14847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1008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Nirmala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Seva Innovation Challenge – Reference Pitch Deck</dc:title>
  <dc:subject>PptxGenJS Presentation</dc:subject>
  <dc:creator>PptxGenJS</dc:creator>
  <cp:lastModifiedBy>ceo_ispark@mssu.ac.in</cp:lastModifiedBy>
  <cp:revision>4</cp:revision>
  <dcterms:created xsi:type="dcterms:W3CDTF">2026-09-23T13:40:13Z</dcterms:created>
  <dcterms:modified xsi:type="dcterms:W3CDTF">2026-09-23T13:46:30Z</dcterms:modified>
</cp:coreProperties>
</file>